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Default Overview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Power BI report on loan default risk: who defaults, how often, and how it changes over time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255,347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loan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30175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2013-2018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657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period covered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30175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657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report pages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30175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657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DAX measures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Umesh Sakpal  |  Power BI Developer &amp;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4416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436705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3441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8470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Age, Income, Education, EmploymentType, MaritalStatus, MonthsEmployed, HasDependents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47872" y="134416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409" y="1436705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441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profile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47872" y="18470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CreditScore, NumCreditLines, DTIRatio, HasMortgage, HasCoSigner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" y="303580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" y="3128345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" y="35387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LoanID, LoanAmount, LoanPurpose, LoanTerm, InterestRate, Loan Date, Year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383280" y="28803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547872" y="303580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409" y="3128345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069080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3547872" y="353872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Default (1 = loan defaulted). This is the column every default rate is built 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355080" y="1188720"/>
            <a:ext cx="2331720" cy="320040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355080" y="1371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255,347</a:t>
            </a:r>
            <a:endParaRPr lang="en-US" sz="3600" dirty="0"/>
          </a:p>
        </p:txBody>
      </p:sp>
      <p:sp>
        <p:nvSpPr>
          <p:cNvPr id="25" name="Text 19"/>
          <p:cNvSpPr txBox="1"/>
          <p:nvPr/>
        </p:nvSpPr>
        <p:spPr>
          <a:xfrm>
            <a:off x="653796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loan records, one row per loan, 2013-2018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537960" y="2788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537960" y="30632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Find which borrower groups default most and how risk moves over time, so lending can be tightened where it matters.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calculated columns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920240"/>
            <a:ext cx="640080" cy="502920"/>
          </a:xfrm>
          <a:prstGeom prst="line">
            <a:avLst/>
          </a:prstGeom>
          <a:noFill/>
          <a:ln w="15875">
            <a:solidFill>
              <a:srgbClr val="5B6B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926080" y="1920240"/>
            <a:ext cx="640080" cy="502920"/>
          </a:xfrm>
          <a:prstGeom prst="line">
            <a:avLst/>
          </a:prstGeom>
          <a:noFill/>
          <a:ln w="15875">
            <a:solidFill>
              <a:srgbClr val="5B6B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3429000"/>
            <a:ext cx="0" cy="457200"/>
          </a:xfrm>
          <a:prstGeom prst="line">
            <a:avLst/>
          </a:prstGeom>
          <a:noFill/>
          <a:ln w="15875">
            <a:solidFill>
              <a:srgbClr val="5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D6F3EE"/>
          </a:solidFill>
          <a:ln w="12700">
            <a:solidFill>
              <a:srgbClr val="13B5A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Measures_Table_1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B40"/>
                </a:solidFill>
              </a:rPr>
              <a:t>5 measures, Page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2344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D6F3EE"/>
          </a:solidFill>
          <a:ln w="12700">
            <a:solidFill>
              <a:srgbClr val="13B5A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Measures_Table_2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B40"/>
                </a:solidFill>
              </a:rPr>
              <a:t>5 measures, Page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D6F3EE"/>
          </a:solidFill>
          <a:ln w="12700">
            <a:solidFill>
              <a:srgbClr val="13B5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72768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Measures_Table_3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B40"/>
                </a:solidFill>
              </a:rPr>
              <a:t>3 measures, Page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25880" y="2423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2423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Loan_default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main table, 255,347 rows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645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Age_Group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Up to 19 TEEN, to 39 Adults, to 59 Middle Age Adults, above that Senior Citizens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14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Credit_Score_Bins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Up to 400 Very Low, to 450 Low, to 650 Medium, above that High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3832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383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Income_Bracket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B2B40"/>
                </a:solidFill>
              </a:rPr>
              <a:t>Below 30K Low, 30K to 60K Medium, 60K and above High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297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0"/>
                </a:solidFill>
              </a:rPr>
              <a:t>Flat single-table model: every field sits in one table, so no relationships are needed. Measures are grouped into three tables, one per report page.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used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502920"/>
                <a:gridCol w="484632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DAX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Loan_Amount_by_Purpose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SUMX of LoanAmount, blanks excluded, by LoanPurpose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Average_Income_By_Employment_Type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Income; ALLEXCEPT keeps EmploymentType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Default_Rate_By_Employment_Type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divided by all loans in the same employment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Average_Loan_By_Age_group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AVERAGEX over Age_Group of the average LoanAmount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Default_Rate_By_Year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divided by loans in the same year, times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Median_By_Credit_Score_Bins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MEDIANX of LoanAmount, split by bin or age group in the visual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Average_Loan_Amount_By_High_Credit_Score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AVERAGEX of LoanAmount where Credit_Score_Bins is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Total_Loan(Credit_Bins)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Adults' loan total by credit bin; ALLEXCEPT keeps age and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Total_Loans(Middle_Age_Adults)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SUMX of LoanAmount where Age_Group is Middle Age Adults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Loans_By_Education_Type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loans (LoanID) by Education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YOY_Loan_Amount_Change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year minus last year) divided by last year, loan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YOY_Default_Loans_Change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(This year minus last year) divided by last year, default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YTD_Loan_Amount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B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amount by credit bin and marital status (DATESYTD, ALLEXCEPT)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DAX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by employment 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CALCULATE(COUNTROWS(Loan_default),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Loan_default[Default] = 1),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COUNTROWS(Loan_default)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by 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73168" y="1508760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54480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Loans = CALCULATE(COUNTROWS(Loan_default),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ALLEXCEPT(Loan_default, Loan_default[Year]))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Defaults = CALCULATE(COUNTROWS(Loan_default),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Loan_default[Default] =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ALLEXCEPT(Loan_default, Loan_default[Year]))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DIVIDE(Defaults, Loans) * 100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044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Year-over-year change (loan amount)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383280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29000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CurYr = MAX(Loan_default[Year])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Cur = CALCULATE(SUM(Loan_default[LoanAmount]),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Loan_default[Year] = CurYr)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Prev = CALCULATE(SUM(Loan_default[LoanAmount]),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Loan_default[Year] = CurYr - 1)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DIVIDE(Cur - Prev, Prev)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044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column: Credit_Score_Bins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73168" y="3383280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429000"/>
            <a:ext cx="3657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SWITCH(TRUE(),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Loan_default[CreditScore] &lt;= 400, "Very Low",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Loan_default[CreditScore] &lt;= 450, "Low",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Loan_default[CreditScore] &lt;= 650, "Medium",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"High")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three pages show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5272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345265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52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</a:rPr>
              <a:t>Page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Default &amp; Overview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3B5A1"/>
                </a:solidFill>
              </a:rPr>
              <a:t>Where do defaults come from?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724912"/>
            <a:ext cx="23591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Default rate stays near 11.6% every year (11.50% to 11.75%)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Unemployed borrowers rank highest, full-time lowest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Loan amount is almost equal across loan purposes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0712" y="125272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249" y="134526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31920" y="1252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</a:rPr>
              <a:t>Page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 Demographics &amp; Financial Profile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071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3B5A1"/>
                </a:solidFill>
              </a:rPr>
              <a:t>Who are the borrowers?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410712" y="2724912"/>
            <a:ext cx="23591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Median loan stays near 127K across age groups and credit bins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Loan counts are almost equal across education levels (about 64K each)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Mortgage and dependents make no difference to loan volume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09728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99632" y="1252728"/>
            <a:ext cx="420624" cy="420624"/>
          </a:xfrm>
          <a:prstGeom prst="ellipse">
            <a:avLst/>
          </a:prstGeom>
          <a:solidFill>
            <a:srgbClr val="13B5A1"/>
          </a:solidFill>
          <a:ln w="12700">
            <a:solidFill>
              <a:srgbClr val="13B5A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169" y="1345265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20840" y="1252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</a:rPr>
              <a:t>Page 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199632" y="1783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Risk Matrix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19963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3B5A1"/>
                </a:solidFill>
              </a:rPr>
              <a:t>How is risk moving?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199632" y="2724912"/>
            <a:ext cx="23591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Default counts move up to about 3% a year, but the rate stays flat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High-income borrowers hold 21.7bn of the 32.6bn loan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B40"/>
                </a:solidFill>
              </a:rPr>
              <a:t>Decomposition tree drills income into employment type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shown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Power Query data cleaning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Data modelling and calculated columns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DAX: CALCULATE, ALLEXCEPT, variables, iterators, time intelligence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Dashboard design and data storytelling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3335C"/>
          </a:solidFill>
          <a:ln w="12700">
            <a:solidFill>
              <a:srgbClr val="1333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B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Add a Date table with TOTALYTD and SAMEPERIODLASTYEAR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Connect to a live SQL source with scheduled refresh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Add a risk-score model to flag high-risk loans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Add row-level security so each team sees only its own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umeshsakpal14@gmail.com   |   github.com/Sakpal23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n Risk">
  <a:themeElements>
    <a:clrScheme name="Loan Risk">
      <a:dk1>
        <a:srgbClr val="1B2B40"/>
      </a:dk1>
      <a:lt1>
        <a:srgbClr val="FFFFFF"/>
      </a:lt1>
      <a:dk2>
        <a:srgbClr val="0B2545"/>
      </a:dk2>
      <a:lt2>
        <a:srgbClr val="EEF3F9"/>
      </a:lt2>
      <a:accent1>
        <a:srgbClr val="13B5A1"/>
      </a:accent1>
      <a:accent2>
        <a:srgbClr val="F2A541"/>
      </a:accent2>
      <a:accent3>
        <a:srgbClr val="3A6EA5"/>
      </a:accent3>
      <a:accent4>
        <a:srgbClr val="7A8CA5"/>
      </a:accent4>
      <a:accent5>
        <a:srgbClr val="C0504D"/>
      </a:accent5>
      <a:accent6>
        <a:srgbClr val="2E8B57"/>
      </a:accent6>
      <a:hlink>
        <a:srgbClr val="13B5A1"/>
      </a:hlink>
      <a:folHlink>
        <a:srgbClr val="5B6B80"/>
      </a:folHlink>
    </a:clrScheme>
    <a:fontScheme name="Loa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Overview - Power BI Project</dc:title>
  <dc:subject>PptxGenJS Presentation</dc:subject>
  <dc:creator>Umesh Sakpal</dc:creator>
  <cp:lastModifiedBy>Umesh Sakpal</cp:lastModifiedBy>
  <cp:revision>1</cp:revision>
  <dcterms:created xsi:type="dcterms:W3CDTF">2026-10-23T08:58:52Z</dcterms:created>
  <dcterms:modified xsi:type="dcterms:W3CDTF">2026-10-23T08:58:52Z</dcterms:modified>
</cp:coreProperties>
</file>